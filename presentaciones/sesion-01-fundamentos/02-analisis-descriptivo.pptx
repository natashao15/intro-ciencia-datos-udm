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«Acuérdense de la motivación del inicio del curso — hoy empezamos a construir las primeras herramientas concretas para eso.»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gancho de toda la sesión — plantéalo con energía. No reveles nada todavía: ni el promedio, ni la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Dale un momento a que miren la lista cruda — es intencional que se vea abrumadora. No calcules nada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«Cuántas ventas tuvimos» es descriptivo. «Por qué bajaron las ventas» ya es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rápido a la motivación — menciona también, de pasada: «como el caso de TiendaExpress que acabamos de ver».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lo que vamos a calcular hoy — media, mediana, moda — son formas de resumir MUCHOS datos de una misma variable en una sola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Moda va a ser la única de las tres medidas que sirve para datos cualitativos — en un momento vemos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profundizar en la teoría de asimetría — solo que vean que “la forma” importa antes de resumir con un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 la pregunta y deja que la resuelvan mentalmente antes de revelar las 3 opciones.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Resuélvelo en vivo sumando y dividiendo frente a ellos si el tiempo lo permite.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“aha” de la sesión. «Un número sin contexto también puede engañar — igual que confiar en una respuesta de un LLM sin verificarla.»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esto en las noticias casi siempre hablan de «salario mediano», no «salario promedio».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dato categórico sin media/mediana con sentido: «el color de carro más vendido» — ahí solo la moda tiene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el que se van a querer tomar foto — resume todo lo anterior en una regla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«¿A cuál de los dos grupos le confían más una predicción basada solo en el promedio?»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 enredes con la fórmula — el punto conceptual importa más que memorizar el cálculo. «El número en sí (0.4 vs 8) ya les dice cuál grupo es más parejo.»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«Si un domicilio tarda en promedio 30 min con una desviación de 2, confían mucho más que si la desviación fuera de 20 — mismo promedio, confianza muy distinta.»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«No sirve de nada decir 5 de desviación sin decir 5 de qué, comparado con qué. El CV pone esa desviación en contexto.»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arco narrativo volviendo explícitamente a la pregunta de «¿cómo se puede comportar un dato?».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Dale unos segundos a que intenten recordar el promedio a ojo antes de revelar los números calculados.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“aha” visual — señala el hueco entre el grupo grande de la izquierda y esas dos barras solitarias.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Complementa el histograma anterior: aquí se ve cada dato individual, no agrupado en rangos. La banda es literalmente la desviación estándar dibujada.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ejercicio completo devolviendo la respuesta a la pregunta de negocio planteada al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directa a la actividad práctica en Jupyter del cronograma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A LA ACCIÓN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Descriptivo y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Tendencia Central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resumir un montón de números sueltos en una idea clara.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CON UN CASO REAL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TiendaExpress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¿Tenemos un problema real con los tiempos de entrega?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9692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TiendaExpress es una tienda en línea. Varios clientes se han quejado en redes sociales de que “a veces” las entregas tardan demasiado. Queremos responder esa pregunta con datos reales.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ESTÁN LOS DATOS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entregas de la última semana (minutos)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554480"/>
          </a:xfrm>
          <a:prstGeom prst="roundRect">
            <a:avLst>
              <a:gd name="adj" fmla="val 588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22, 25, 24, 23, 26, 24, 25, 23, 22, 60,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24, 26, 25, 23, 24, 25, 55, 24, 23, 26,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23, 24, 25, 26, 22, 24, 25, 23, 24, 26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es solo una lista larga de números. Al final de esta sesión vamos a saber exactamente cómo leerla.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LOS NÚMEROS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análisis descriptivo?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y describir QUÉ pasó en un conjunto de datos — con números, tablas y gráficos.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Números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5643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640" y="292608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724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7240" y="345643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77200" y="292608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Gráficos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345643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explica POR QUÉ pasó (eso es análisis diagnóstico) ni predice qué va a pasar (eso viene más adelante). Hoy nos quedamos en el primer escalón: describir con precisión.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queremos lograr con esto?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Resumir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Comunicar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81635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868680"/>
          </a:xfrm>
          <a:prstGeom prst="roundRect">
            <a:avLst>
              <a:gd name="adj" fmla="val 1052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Decidir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816352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74720"/>
            <a:ext cx="9692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un montón de datos sueltos en una idea clara, que se pueda contar y que ayude a tomar una decisión — sin importar el sector: salud, retail, finanzas, deporte…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dato?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es un valor u observación sobre algo: una edad, un precio, una respuesta, una fecha…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reunimos muchos datos sobre lo mismo, tenemos una variable. Por ejemplo: “edad de los clientes” es la variable; 34, 28, 45, 51… son los datos de esa variable.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ELEGIR BIEN LA MEDIDA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datos son iguales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Cualitativos (categóricos):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categorías o etiquetas — color favorito, sí/no, ciudad. No se promedian, se cuentan.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Cuantitativos discretos: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cuentan, son números enteros — número de hijos, número de pedidos.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Cuantitativos continuos: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miden, pueden tener decimales — estatura, tiempo, dinero.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CALCULAR NADA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puede “comportar” un dato?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resumir un grupo de datos en un solo número, vale la pena mirar cómo se distribuyen sus valores.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5643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estaturas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8640" y="292608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724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Sesgado a la derecha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7240" y="345643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salarios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77200" y="292608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307238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Sesgado a la izquierda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345643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edad de jubilación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TENDENCIA CENTRAL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valor típico de este grupo?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distintas de responder la misma pregunta — y no siempre dan la misma respuesta.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promedio que ya conocen de Excel.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valor que queda justo en la mitad.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Moda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valor que más se repite.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1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(promedio)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todos los valores y dividir entre cuántos son. Es el “punto de equilibrio” del grupo.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9692640" cy="1645920"/>
          </a:xfrm>
          <a:prstGeom prst="roundRect">
            <a:avLst>
              <a:gd name="adj" fmla="val 5556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9144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salarios = [2, 2, 3, 3, 3, 4, 4, 25]  # millones de pesos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sum(salarios) / len(salarios)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  # 5.75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548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Miren ese último valor… ¿el 25 no se ve un poco raro ahí?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AQUÍ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“enfermedad” de la media?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valor extremo infla la media muy por encima de lo que gana la mayoría del equipo.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 2, 2, 3, 3, 3, 4, 4, 25. Media = 5.75, pero el grupo gana entre 2 y 4. (En este curso, “media” y “promedio” son el mismo concepto — dos nombres para lo mismo.)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2 DE 3 · LA SOLUCIÓN AL PROBLEMA ANTERIOR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Mediana: el valor de la mitad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4688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ordenan todos los valores de menor a mayor y se toma el del medio. La mediana (3) es mucho más representativa del salario “típico” del equipo que la media (5.75).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🗳️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3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Moda: el valor que más se repite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respuestas de una encuesta de satisfacción (1 a 5 estrellas):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9692640" cy="1188720"/>
          </a:xfrm>
          <a:prstGeom prst="roundRect">
            <a:avLst>
              <a:gd name="adj" fmla="val 769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respuestas = [3, 4, 5, 5, 5, 4, 2, 5, 4, 3]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 = 5   # se repite 4 veces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haber más de una moda (bimodal), o ninguna si todos los valores son distintos. Es la única de las tres que también sirve para datos categóricos.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mido y cuándo?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categóricos (colores, marcas, respuestas) →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numéricos sin valores extremos →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numéricos con atípicos o muy asimétricos (salarios, tiempos de espera, precios de vivienda) →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FALTA ALGO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no basta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grupos pueden tener exactamente el mismo promedio… y comportarse de forma totalmente distinta.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Media = 5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4, 5, 5, 5, 6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63640" y="292608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127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Media = 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11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1, 3, 5, 7, 9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DISPERSIÓN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Varianza: qué tan lejos están los datos del centro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qué tan lejos está, en promedio, cada dato respecto a la media — elevado al cuadrado. Varianza = promedio de (x − Media)²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(4,5,5,5,6)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(1,3,5,7,9)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PRÁCTICA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estándar: la varianza, en las unidades originales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raíz cuadrada de la varianza — devuelve a las unidades reales. Desviación estándar = √Varianza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 MÁS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desviación… ¿es mucha o poca?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saber mirándola sola. CV = (Desviación estándar / Media) × 100%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(170cm, ±5cm)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(70kg, ±5kg)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26280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desviación (5), pero el peso es proporcionalmente mucho más disperso. Reglas de dedo: CV &lt; 15% poco disperso · 15–30% moderado · &gt; 30% muy disperso.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UNIENDO TODO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Cerrando el círculo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central: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¿dónde está el centro del grupo? (media, mediana, moda)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Dispersión: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¿qué tan agrupados o dispersos están los datos alrededor de ese centro? (varianza, desviación estándar)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Juntas, describen completamente cómo se comporta un dato.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VOLVAMOS A TIENDAEXPRESS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Calculemos las medidas, con las herramientas de hoy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(min)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864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9580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(min)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7720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1436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(min)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acuerdan de los 30 tiempos de entrega del inicio? Es la misma lista de datos — no la cambiamos.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SÍ, LA GRÁFICA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ven realmente estos 30 tiempos?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2308860" cy="2011680"/>
          </a:xfrm>
          <a:prstGeom prst="roundRect">
            <a:avLst>
              <a:gd name="adj" fmla="val 2727"/>
            </a:avLst>
          </a:prstGeom>
          <a:solidFill>
            <a:srgbClr val="F2A9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645152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 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93776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entregas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7580" y="3264408"/>
            <a:ext cx="2308860" cy="1307592"/>
          </a:xfrm>
          <a:prstGeom prst="roundRect">
            <a:avLst>
              <a:gd name="adj" fmla="val 4196"/>
            </a:avLst>
          </a:prstGeom>
          <a:solidFill>
            <a:srgbClr val="F2A9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0420" y="4645152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 min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60420" y="493776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entregas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4434840"/>
            <a:ext cx="2308860" cy="137160"/>
          </a:xfrm>
          <a:prstGeom prst="roundRect">
            <a:avLst>
              <a:gd name="adj" fmla="val 40000"/>
            </a:avLst>
          </a:prstGeom>
          <a:solidFill>
            <a:srgbClr val="F2A9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4645152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30–54 min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93776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entregas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12580" y="4290365"/>
            <a:ext cx="2308860" cy="281635"/>
          </a:xfrm>
          <a:prstGeom prst="roundRect">
            <a:avLst>
              <a:gd name="adj" fmla="val 19481"/>
            </a:avLst>
          </a:prstGeom>
          <a:solidFill>
            <a:srgbClr val="F2A9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75420" y="4645152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55–64 min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75420" y="493776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entregas (outliers)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949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entregas (28 de 30) están entre 22 y 29 minutos… pero hay 2 que se disparan a 55 y 60.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FORMA DE VERLO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entrega, una por una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(min)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864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±8.43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9580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desviación estándar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7720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1436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fuera de la banda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sería una entrega; la banda típica (media ± 1 desviación estándar) cubre casi todas — excepto esas 2 de 55 y 60 minutos.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🕵️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UNIENDO TODO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¿Tenemos un problema real?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864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8.43 min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9580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280160"/>
          </a:xfrm>
          <a:prstGeom prst="roundRect">
            <a:avLst>
              <a:gd name="adj" fmla="val 714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77200" y="246888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14360" y="30632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el tiempo típico es bueno (24 min), pero la inconsistencia es real — algunas entregas tardan más del doble. Esto es análisis descriptivo: describimos QUÉ está pasando — todavía no POR QUÉ (diagnóstico) ni podemos predecir cuál pedido va a tardar (clasificación/ML).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PRÁCTICA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sí: a calcularlo con Python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es entender qué significa un promedio. Otra es saber calcularlo — y sobre todo, saber cuándo NO confiar en él.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al notebook a calcular todo esto con datos reales.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Análisis Descriptivo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2026-09-11T11:45:43Z</dcterms:created>
  <dcterms:modified xsi:type="dcterms:W3CDTF">2026-09-11T11:45:43Z</dcterms:modified>
</cp:coreProperties>
</file>