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el curso, bajar la ansiedad del salón y dejar clarísimo el mapa de lo que viene hoy. Preséntate a ti y menciona a tu colega, aunque no dicte esta sesión.
«Bienvenidos a Introducción a la Ciencia de Datos. No importa si vienen de ingeniería, de salud, de mercadeo o de finanzas — todos tienen algo que aportar aquí.»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las 4 en voz alta, pide que voten levantando 1/2/3/4 dedos. Respuesta correcta: la #3 es la inventada — y suele ganar la votación, porque casi todo el mundo la cree cierta. No reveles todavía la respuesta.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«Ese instinto — notar que algo suena demasiado repetido y familiar para cuestionarlo — es exactamente lo que vamos a entrenar en este curso.»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corta y de transición — haz una pausa antes de pasar a la siguiente, es el momento de “cortina” antes de la revelación.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 brevemente en tus propias palabras aquí, con calidez — la diapositiva es solo el ancla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una carrera lineal “pensada desde el día 1” — nombra eso abiertamente: empezaste en ingeniería química. Menciona también tu experiencia como monitor de Cálculo y Termodinámica, si aplica.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de presentación personal — conecta con el icebreaker que sigue: la clase es diversa, y tú tampoco llegaste por el camino “obvio”.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Levanta tú la mano primero en cada pregunta para dar ejemplo. Objetivo real: que el salón vea con sus propios ojos que es heterogéneo — la norma, no la excepción.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Mensaje ancla de toda la sesión. «Piensen en Excel: ya saben sacar un promedio, filtrar una columna. Vamos a hacer eso, pero con superpoderes.»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tecnicismos — la meta es que la definición quepa en una frase que se lleven a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al público: «¿alguien ya usa datos en su trabajo hoy, aunque sea solo en Excel?» — deja que 2-3 personas cuenten su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«El mundo está cambiando: ya no gana quien sabe teclear rápido un comando. Gana quien entiende lo suficiente para saber si la respuesta tiene sentido.»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 el tono: el mensaje no es “no usar estas herramientas”, es “no usarlas a ciegas”.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«De aquí en adelante, la pregunta no va a ser '¿qué me respondió?' sino '¿cómo sé que tiene razón?'.»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mapa es, literalmente, el mapa de este curso. Explica cada caja con un ejemplo cotidiano único (ej: ventas de una tienda de barrio).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«Al final de este curso van a poder tomar un Excel desordenado y convertirlo en un tablero que cuenta una historia clara.»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«Todo lo que limpiemos y organicemos en Pandas aquí, se los van a pedir de vuelta en los cursos de modelos.»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cada clase: material corto pregrabado (video/lectura). Explica la lógica de aula invertida. Aclara el ritmo: descansos reales, bloques cortos.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construye la seguridad psicológica del salón — clave para quienes llegaron con “fobia” a programar.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Recordatorio rápido y práctico — transición hacia la parte técnica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 que la animación corra sola, o dale play en vivo — es un gesto simbólico antes de que abran su propia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«Nadie llega a este salón sabiendo usar una terminal. Si ya supieran, no estarían pagando por este curso.»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Anécdota que quita misterio, no clase de teoría de lenguajes. «Python es el que vamos a usar aquí porque es el más cómodo para trabajar con datos.»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con energía: después de esto arranca el bloque técnico (Jupyter/ambientes, ~40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· BIENVENIDA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</a:t>
            </a:r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Datos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 en Ciencia de Datos e Inteligencia Artificial — Universidad de Medellín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Profesor(es): Simón Gómez Giraldo · Mateo Cano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septiembre,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EMPEZAR · UN JUEGO RÁPIDO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estas 4 la inventó una IA?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 la inventó un LLM con total seguridad. Voten con la mano: 1, 2, 3 o 4.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72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5643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grupo de flamencos se le llama, literalmente, una “flamboyance”.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92608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3072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45643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miel prácticamente nunca se daña: se han encontrado frascos de más de 3.000 años en tumbas egipcias.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946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309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reprobó matemáticas en el colegio.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800600"/>
            <a:ext cx="5303520" cy="1600200"/>
          </a:xfrm>
          <a:prstGeom prst="roundRect">
            <a:avLst>
              <a:gd name="adj" fmla="val 5714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4946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3309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bostezos son contagiosos entre especies distintas: los perros bostezan más al ver bostezar a su dueño.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#3 es la inventada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97280"/>
          </a:xfrm>
          <a:prstGeom prst="roundRect">
            <a:avLst>
              <a:gd name="adj" fmla="val 833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Einstein fue excelente en matemáticas desde niño — el mito nació de una confusión con el sistema de calificación suizo (donde un 6 es la nota más alta).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de fácil se cuela un mito: suena tan conocido que casi nadie se detiene a verificarlo. Una IA puede sonar exactamente igual de segura diciendo algo falso.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🙋‍♂️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HABLANDO DE SABER DISTINGUIR ESTO…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les habla hoy?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Alguien que se pasa buena parte del día evaluando exactamente este tipo de afirmaciones — en modelos que están en producción, no en demos.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GUSTO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Simón Gómez Giraldo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Machine Learning Engineer · Magíster en Analítica e Inteligencia Artificial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Medellín, Colombia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LLEGUÉ HASTA ACÁ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ingeniería química a construir modelos en producción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728216" y="2450592"/>
            <a:ext cx="8705088" cy="0"/>
          </a:xfrm>
          <a:prstGeom prst="line">
            <a:avLst/>
          </a:prstGeom>
          <a:noFill/>
          <a:ln w="19050">
            <a:solidFill>
              <a:srgbClr val="2E3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980944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Ingeniero Químico — U. Nacional de Colombia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22192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62072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2980944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Especialista en Analítica de Datos — U. Nacional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98464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38344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38344" y="2980944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Analista de Datos — Konecta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74736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14616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14616" y="2980944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Magíster en Analítica e IA — U. Nacional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351008" y="2368296"/>
            <a:ext cx="164592" cy="164592"/>
          </a:xfrm>
          <a:prstGeom prst="ellipse">
            <a:avLst/>
          </a:prstGeom>
          <a:solidFill>
            <a:srgbClr val="F2A9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90888" y="265176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2023–hoy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2980944"/>
            <a:ext cx="20848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Senior ML Engineer — Mercado Libre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HAGO HOY, TODOS LOS DÍAS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Construyo con las mismas piezas que vamos a aprender en este curso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lenguaje (LLMs)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productos reales — no solo en demos.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de inferencia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en línea y por lotes — que conectan datos con decisiones de negocio.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todos los días en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llevar un modelo de un notebook a producción, y mantenerlo vivo.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todo eso, hice el mismo camino que ustedes empiezan hoy: limpiar datos, explorarlos, y aprender cuándo confiar (o no) en lo que dicen.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ROMPER EL HIELO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está en esta sala?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Levanten la mano si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han escrito una línea de código.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Levanten la mano si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 Excel o Google Sheets todos los días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su trabajo.</a:t>
            </a:r>
            <a:endParaRPr lang="en-US" sz="2000" dirty="0"/>
          </a:p>
          <a:p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Levanten la mano si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vienen de un área distinta a ingeniería o sistemas.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Levanten la mano si 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han trabajado con datos</a:t>
            </a:r>
            <a:pPr indent="0" marL="0">
              <a:lnSpc>
                <a:spcPct val="125000"/>
              </a:lnSpc>
              <a:spcAft>
                <a:spcPts val="2200"/>
              </a:spcAft>
              <a:buNone/>
            </a:pPr>
            <a:r>
              <a:rPr lang="en-US" sz="20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aunque nunca lo hayan llamado “ciencia de datos”.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🧭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SEGUIR…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 curso para “programadores”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ciencia de datos es una forma de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un lenguaje de programación.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(Python) es la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pregunta que quieres responder es lo que importa.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 ir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despacio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tiempo real para practicar y repetir las veces que haga falta.</a:t>
            </a:r>
            <a:endParaRPr lang="en-US" sz="1900" dirty="0"/>
          </a:p>
          <a:p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</a:t>
            </a:r>
            <a:pPr indent="0" marL="0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19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este salón necesita saber programar hoy. Al final del curso, todos van a poder.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ciencia de datos?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97280"/>
          </a:xfrm>
          <a:prstGeom prst="roundRect">
            <a:avLst>
              <a:gd name="adj" fmla="val 8333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datos crudos y desordenados en decisiones, historias y valor para una organización — o para ti mismo.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9692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ser detective: los datos son las pistas, el análisis es la investigación, y contar los resultados con claridad es presentar el caso.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MOTIVACIÓN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importa, sin importar de dónde vengas?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Salud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reingresos de pacientes, priorizar camas de UCI.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Mercadeo / Retail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8163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clientes a punto de irse (churn), optimizar precios.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Finanzas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281635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fraude, evaluar riesgo de crédito.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12394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Sector público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50799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Focalizar programas sociales, medir impacto de políticas.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58640" y="397764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87240" y="412394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Operaciones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87240" y="450799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rutas de entrega, prever demanda.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77200" y="3977640"/>
            <a:ext cx="3444240" cy="1417320"/>
          </a:xfrm>
          <a:prstGeom prst="roundRect">
            <a:avLst>
              <a:gd name="adj" fmla="val 645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05800" y="412394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🏅 Deporte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05800" y="4507992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el rendimiento de jugadores y equipos.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PAUSA IMPORTANTE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construir bases sólidas si un LLM ya responde?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731520"/>
          </a:xfrm>
          <a:prstGeom prst="roundRect">
            <a:avLst>
              <a:gd name="adj" fmla="val 125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no es el objetivo de este curso.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9692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cualquiera puede abrir ChatGPT, Gemini o Claude y copiar una respuesta en segundos. Lo que vamos a construir aquí es entender qué significan los datos, por qué un resultado tiene sentido, y para qué sirve. (LLM = Large Language Model, modelo de lenguaje grande.)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SEAMOS HONESTOS SOBRE ESTAS HERRAMIENTAS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LLMs son poderosos — pero no son oráculos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 empresas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(OpenAI, Google, Anthropic…) — no fuentes neutrales de verdad.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equivocarse con total seguridad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inventar datos, fechas o resultados que suenan perfectamente creíbles.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Reflejan los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los datos con los que fueron entrenados.</a:t>
            </a:r>
            <a:endParaRPr lang="en-US" sz="17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bases propias para juzgar la respuesta,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saber cuándo están mal.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HABILIDAD QUE DE VERDAD IMPORTA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mundo nuevo, el conocimiento es más poder que nunca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1005840"/>
          </a:xfrm>
          <a:prstGeom prst="roundRect">
            <a:avLst>
              <a:gd name="adj" fmla="val 9091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usar estas herramientas ya no alcanza. Lo que va a marcar la diferencia es saber juzgarlas.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66160"/>
            <a:ext cx="9692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a usar LLMs en este curso — pero tu valor va a estar en poder decir “esto está bien” o “esto no tiene sentido, y así lo sé”.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MENTAL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se ve un proyecto de datos, de principio a fin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71216" y="22860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99816" y="243230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99816" y="281635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2352" y="22860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0952" y="243230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281635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(EDA)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3488" y="22860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62088" y="243230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62088" y="281635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64624" y="2286000"/>
            <a:ext cx="1956816" cy="1371600"/>
          </a:xfrm>
          <a:prstGeom prst="roundRect">
            <a:avLst>
              <a:gd name="adj" fmla="val 6667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93224" y="2432304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793224" y="2816352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MAPA DE RUTA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sesiones, 4 bloques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🧹 Carga, limpieza y transformación con Pandas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1–2 · 8h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🔗 Indexación jerárquica, combinación y agrupamiento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163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3–4 · 8h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61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📈 Series de tiempo y automatización del EDA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451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5 · 4h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114800"/>
            <a:ext cx="5303520" cy="1554480"/>
          </a:xfrm>
          <a:prstGeom prst="roundRect">
            <a:avLst>
              <a:gd name="adj" fmla="val 588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2611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🎨 Visualización, storytelling y proyecto final de aula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64515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6–8 · 12h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89320"/>
            <a:ext cx="9692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estamos empezando el Bloque 1. El curso cierra con un proyecto de aula donde cuentan una historia con datos reales.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FOTO COMPLETA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curso es la base de todo lo que viene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📊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1635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C. de Datos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8640" y="228600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724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87240" y="281635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para C.D.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77200" y="228600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5800" y="243230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🧪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05800" y="281635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89534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🤖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27939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automático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58640" y="374904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87240" y="389534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🧠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87240" y="427939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profundo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77200" y="3749040"/>
            <a:ext cx="3444240" cy="1188720"/>
          </a:xfrm>
          <a:prstGeom prst="roundRect">
            <a:avLst>
              <a:gd name="adj" fmla="val 7692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05800" y="3895344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☁️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05800" y="4279392"/>
            <a:ext cx="298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 la nube + Proyecto II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 sesiones: 4 horas, nunca 4 horas seguidas de lo mismo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/ motivación / vista general —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 min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técnico corto + práctica guiada —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~40–50 min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Descanso real —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interactiva (Kahoot) + “a la acción” — variable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+ evaluables de la semana — 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 JUNTOS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Nuestras reglas de juego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al ritmo del que más lo necesita, no del que más rápido va.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 en el código es normal y esperado: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no cometido, error no aprendido.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pareja o grupo siempre que se pueda — el que ya sabe algo, ayuda al que está aprendiendo.</a:t>
            </a:r>
            <a:endParaRPr lang="en-US" sz="1600" dirty="0"/>
          </a:p>
          <a:p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trabajos, máximo 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de código hecho por LLMs</a:t>
            </a:r>
            <a:pPr indent="0" marL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más código hecho a mano, mayor recompensa.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🎒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 HOY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necesitas para este curso?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con el ambiente configurado (video previo enviado).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Ganas de practicar — la ciencia de datos se aprende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haciendo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viendo.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experiencia previa en programación.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8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Evaluación: talleres cortos en clase + proyecto de aula final (storytelling con datos reales).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MOMENTO TÉCNICO, ANTES DE SEGUIR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terminal: ese cuadro negro que parece de otro mundo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9692640" cy="2377440"/>
          </a:xfrm>
          <a:prstGeom prst="roundRect">
            <a:avLst>
              <a:gd name="adj" fmla="val 3846"/>
            </a:avLst>
          </a:prstGeom>
          <a:solidFill>
            <a:srgbClr val="0B0E1A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286000"/>
            <a:ext cx="9692640" cy="365760"/>
          </a:xfrm>
          <a:prstGeom prst="roundRect">
            <a:avLst>
              <a:gd name="adj" fmla="val 20000"/>
            </a:avLst>
          </a:prstGeom>
          <a:solidFill>
            <a:srgbClr val="161B2E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414016"/>
            <a:ext cx="109728" cy="109728"/>
          </a:xfrm>
          <a:prstGeom prst="ellipse">
            <a:avLst/>
          </a:prstGeom>
          <a:solidFill>
            <a:srgbClr val="EF6A6A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2414016"/>
            <a:ext cx="109728" cy="109728"/>
          </a:xfrm>
          <a:prstGeom prst="ellipse">
            <a:avLst/>
          </a:prstGeom>
          <a:solidFill>
            <a:srgbClr val="F2C94B"/>
          </a:solidFill>
          <a:ln/>
        </p:spPr>
      </p:sp>
      <p:sp>
        <p:nvSpPr>
          <p:cNvPr id="10" name="Shape 8"/>
          <p:cNvSpPr/>
          <p:nvPr/>
        </p:nvSpPr>
        <p:spPr>
          <a:xfrm>
            <a:off x="1335024" y="2414016"/>
            <a:ext cx="109728" cy="109728"/>
          </a:xfrm>
          <a:prstGeom prst="ellipse">
            <a:avLst/>
          </a:prstGeom>
          <a:solidFill>
            <a:srgbClr val="5EEAC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45920" y="2286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zsh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88920"/>
            <a:ext cx="9144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whoami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alguien que está aprendiendo a hablar con datos 🙂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5EEA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"la terminal no muerde"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7BE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terminal no muerde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93776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vivo: ábranla ustedes también y prueben estos dos comandos.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 ABIERTA, CERO SUPOSICIONES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 tengan miedo… ¡y siéntanse cracks!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nada que temerle: es una herramienta más para hablarle directo al computador, no un examen sorpresa.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llenen de suposiciones antes de siquiera abrirla — la mayoría del miedo se va con el primer comando.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 sienten que por fin van a parecer “hackers” —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disfrútenlo.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Ese primer comando que corre es una victoria real.</a:t>
            </a:r>
            <a:endParaRPr lang="en-US" sz="1650" dirty="0"/>
          </a:p>
          <a:p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b="1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exactamente aquí para esto: 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r>
              <a:rPr lang="en-US" sz="16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tiene que llegar sabiendo.</a:t>
            </a:r>
            <a:pPr indent="0" marL="0">
              <a:lnSpc>
                <a:spcPct val="125000"/>
              </a:lnSpc>
              <a:spcAft>
                <a:spcPts val="1600"/>
              </a:spcAft>
              <a:buNone/>
            </a:pP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YA QUE ESTAMOS…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lenguaje de programación? ¿Por qué existen varios?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términos simples: una forma de darle instrucciones a un computador que un humano pueda escribir y la máquina traducir a algo que ejecuta.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análisis de datos, IA, automatización — el que vamos a usar en este curso.</a:t>
            </a:r>
            <a:endParaRPr lang="en-US" sz="15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páginas web interactivas.</a:t>
            </a:r>
            <a:endParaRPr lang="en-US" sz="15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hablarle directamente a bases de datos.</a:t>
            </a:r>
            <a:endParaRPr lang="en-US" sz="155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control cercano al hardware, máxima velocidad.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457200"/>
            <a:ext cx="777240" cy="777240"/>
          </a:xfrm>
          <a:prstGeom prst="ellipse">
            <a:avLst/>
          </a:prstGeom>
          <a:solidFill>
            <a:srgbClr val="242C57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865815" y="457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EMPECEMOS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4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 a la obra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8961120" cy="914400"/>
          </a:xfrm>
          <a:prstGeom prst="roundRect">
            <a:avLst>
              <a:gd name="adj" fmla="val 10000"/>
            </a:avLst>
          </a:prstGeom>
          <a:solidFill>
            <a:srgbClr val="1B2350"/>
          </a:solidFill>
          <a:ln w="12700">
            <a:solidFill>
              <a:srgbClr val="2E38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45059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5EE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saber programar para empezar. Solo necesitas empezar para aprender a programar.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7472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sí — vamos a preparar el ambiente de trabajo. Abran su computador.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00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Ciencia de Datos · Sesión 1 · Motivación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B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2026-09-11T11:48:14Z</dcterms:created>
  <dcterms:modified xsi:type="dcterms:W3CDTF">2026-09-11T11:48:14Z</dcterms:modified>
</cp:coreProperties>
</file>