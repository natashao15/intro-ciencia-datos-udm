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Transición desde el Kahoot de repaso: «ya calentamos con lo de sesión 1 — ahora sí, entramos al mundo de Pandas».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es un invento de una universidad ni de un curso — nació resolviendo un problema real de análisis financiero.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«Algún día, alguno de ustedes podría terminar contribuyendo a algo así.»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hace falta jerga aquí — un objeto tiene datos propios (atributos) y acciones que puede hacer (métodos).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Esto baja la ansiedad: “objeto” y “método” no son palabras nuevas de hoy.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hace falta profundizar en NumPy hoy — solo que quede la semilla de que Series = array + etiquetas.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diagrama ya usa columnas del dataset que van a cargar hoy (Airbnb NYC) — un pequeño anticipo.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Solo anuncia que vienen 3 particularidades — no las adelantes, cada una tiene su propia diapositiva.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Error clásico y silencioso — no lanza excepción, solo produce resultados raros más adelante.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pregunta más repetida de cualquier curso de Pandas — deja que la analogía “lo que desaparece” se asiente.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Van a ver minimum_nights otra vez en el notebook 2 — si alguien intenta arreglarlo ahí, recuerda el .loc.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Solo deja la semilla — no expliques Big O aquí, eso lo cubre la otra presentación de este mismo bloque.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Roadmap corto y concreto — genera expectativa sin dar spoilers del resultado “raro” que van a ver en el notebook.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65815" y="457200"/>
            <a:ext cx="777240" cy="777240"/>
          </a:xfrm>
          <a:prstGeom prst="ellipse">
            <a:avLst/>
          </a:prstGeom>
          <a:solidFill>
            <a:srgbClr val="242C57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865815" y="4572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🐼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029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2 · BIENVENIDA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8686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Pandas: la herramienta, hecha por </a:t>
            </a:r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5EE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personas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286000"/>
            <a:ext cx="8961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tocar código: quién construyó esta herramienta, y por qué se molestó en hacerlo.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64008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a la Ciencia de Datos · Sesión 2 · Introducción a Pandas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14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65815" y="457200"/>
            <a:ext cx="777240" cy="777240"/>
          </a:xfrm>
          <a:prstGeom prst="ellipse">
            <a:avLst/>
          </a:prstGeom>
          <a:solidFill>
            <a:srgbClr val="242C57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865815" y="4572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🕰️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029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POCO DE HISTORIA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8686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¿De dónde salió Pandas?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2453640" y="2450592"/>
            <a:ext cx="7254240" cy="0"/>
          </a:xfrm>
          <a:prstGeom prst="line">
            <a:avLst/>
          </a:prstGeom>
          <a:noFill/>
          <a:ln w="19050">
            <a:solidFill>
              <a:srgbClr val="2E387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371344" y="2368296"/>
            <a:ext cx="164592" cy="164592"/>
          </a:xfrm>
          <a:prstGeom prst="ellipse">
            <a:avLst/>
          </a:prstGeom>
          <a:solidFill>
            <a:srgbClr val="F2A94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85800" y="2651760"/>
            <a:ext cx="353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EE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2008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980944"/>
            <a:ext cx="3535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Nace en AQR Capital Management (fondo de inversión), creado por Wes McKinney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998464" y="2368296"/>
            <a:ext cx="164592" cy="164592"/>
          </a:xfrm>
          <a:prstGeom prst="ellipse">
            <a:avLst/>
          </a:prstGeom>
          <a:solidFill>
            <a:srgbClr val="F2A94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312920" y="2651760"/>
            <a:ext cx="353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EE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2009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312920" y="2980944"/>
            <a:ext cx="3535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vuelve open source — cualquiera puede usarlo y contribuirle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625584" y="2368296"/>
            <a:ext cx="164592" cy="164592"/>
          </a:xfrm>
          <a:prstGeom prst="ellipse">
            <a:avLst/>
          </a:prstGeom>
          <a:solidFill>
            <a:srgbClr val="F2A94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940040" y="2651760"/>
            <a:ext cx="353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EE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2015→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7940040" y="2980944"/>
            <a:ext cx="3535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Patrocinado por NumFOCUS (misma organización de NumPy, Jupyter, Matplotlib)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a la Ciencia de Datos · Sesión 2 · Introducción a Pandas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14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65815" y="457200"/>
            <a:ext cx="777240" cy="777240"/>
          </a:xfrm>
          <a:prstGeom prst="ellipse">
            <a:avLst/>
          </a:prstGeom>
          <a:solidFill>
            <a:srgbClr val="242C57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865815" y="4572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🤝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029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QUIÉN LO MANTIENE HOY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8686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una empresa — es una comunidad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286000"/>
            <a:ext cx="96926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spcAft>
                <a:spcPts val="1400"/>
              </a:spcAft>
              <a:buNone/>
            </a:pPr>
            <a:r>
              <a:rPr lang="en-US" sz="1650" b="1" dirty="0">
                <a:solidFill>
                  <a:srgbClr val="F2A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lnSpc>
                <a:spcPct val="125000"/>
              </a:lnSpc>
              <a:spcAft>
                <a:spcPts val="1400"/>
              </a:spcAft>
              <a:buNone/>
            </a:pPr>
            <a:r>
              <a:rPr lang="en-US" sz="16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lo mantiene un equipo </a:t>
            </a:r>
            <a:pPr indent="0" marL="0">
              <a:lnSpc>
                <a:spcPct val="125000"/>
              </a:lnSpc>
              <a:spcAft>
                <a:spcPts val="1400"/>
              </a:spcAft>
              <a:buNone/>
            </a:pPr>
            <a:r>
              <a:rPr lang="en-US" sz="165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de ~15 desarrolladores voluntarios</a:t>
            </a:r>
            <a:pPr indent="0" marL="0">
              <a:lnSpc>
                <a:spcPct val="125000"/>
              </a:lnSpc>
              <a:spcAft>
                <a:spcPts val="1400"/>
              </a:spcAft>
              <a:buNone/>
            </a:pPr>
            <a:r>
              <a:rPr lang="en-US" sz="16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(Joris Van den Bossche, Marc Garcia, Simon Hawkins, Tom Augspurger, Jeff Reback, entre otros).</a:t>
            </a:r>
            <a:endParaRPr lang="en-US" sz="1650" dirty="0"/>
          </a:p>
          <a:p>
            <a:pPr indent="0" marL="0">
              <a:lnSpc>
                <a:spcPct val="125000"/>
              </a:lnSpc>
              <a:spcAft>
                <a:spcPts val="1400"/>
              </a:spcAft>
              <a:buNone/>
            </a:pPr>
            <a:r>
              <a:rPr lang="en-US" sz="1650" b="1" dirty="0">
                <a:solidFill>
                  <a:srgbClr val="F2A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lnSpc>
                <a:spcPct val="125000"/>
              </a:lnSpc>
              <a:spcAft>
                <a:spcPts val="1400"/>
              </a:spcAft>
              <a:buNone/>
            </a:pPr>
            <a:r>
              <a:rPr lang="en-US" sz="16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Misión: ser la herramienta de análisis de datos open source más poderosa y accesible del mundo.</a:t>
            </a:r>
            <a:endParaRPr lang="en-US" sz="1650" dirty="0"/>
          </a:p>
          <a:p>
            <a:pPr indent="0" marL="0">
              <a:lnSpc>
                <a:spcPct val="125000"/>
              </a:lnSpc>
              <a:spcAft>
                <a:spcPts val="1400"/>
              </a:spcAft>
              <a:buNone/>
            </a:pPr>
            <a:r>
              <a:rPr lang="en-US" sz="1650" b="1" dirty="0">
                <a:solidFill>
                  <a:srgbClr val="F2A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lnSpc>
                <a:spcPct val="125000"/>
              </a:lnSpc>
              <a:spcAft>
                <a:spcPts val="1400"/>
              </a:spcAft>
              <a:buNone/>
            </a:pPr>
            <a:r>
              <a:rPr lang="en-US" sz="16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Comunidad respetuosa e inclusiva, sin importar el nivel de experiencia.</a:t>
            </a:r>
            <a:endParaRPr lang="en-US" sz="1650" dirty="0"/>
          </a:p>
          <a:p>
            <a:pPr indent="0" marL="0">
              <a:lnSpc>
                <a:spcPct val="125000"/>
              </a:lnSpc>
              <a:spcAft>
                <a:spcPts val="1400"/>
              </a:spcAft>
              <a:buNone/>
            </a:pPr>
            <a:r>
              <a:rPr lang="en-US" sz="1650" b="1" dirty="0">
                <a:solidFill>
                  <a:srgbClr val="F2A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lnSpc>
                <a:spcPct val="125000"/>
              </a:lnSpc>
              <a:spcAft>
                <a:spcPts val="1400"/>
              </a:spcAft>
              <a:buNone/>
            </a:pPr>
            <a:r>
              <a:rPr lang="en-US" sz="16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Lo hacen porque creen en eso — no porque una empresa se los ordene.</a:t>
            </a:r>
            <a:endParaRPr lang="en-US" sz="165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64008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a la Ciencia de Datos · Sesión 2 · Introducción a Pandas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14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65815" y="457200"/>
            <a:ext cx="777240" cy="777240"/>
          </a:xfrm>
          <a:prstGeom prst="ellipse">
            <a:avLst/>
          </a:prstGeom>
          <a:solidFill>
            <a:srgbClr val="242C57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865815" y="4572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🧱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029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SEGUIR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8686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una clase? ¿Qué es un objeto?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2286000"/>
            <a:ext cx="5303520" cy="2011680"/>
          </a:xfrm>
          <a:prstGeom prst="roundRect">
            <a:avLst>
              <a:gd name="adj" fmla="val 4545"/>
            </a:avLst>
          </a:prstGeom>
          <a:solidFill>
            <a:srgbClr val="1B2350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2432304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EE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Clase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816352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molde. La plantilla que describe cómo es algo y qué sabe hacer — como el plano de una casa, no la casa misma.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217920" y="2286000"/>
            <a:ext cx="5303520" cy="2011680"/>
          </a:xfrm>
          <a:prstGeom prst="roundRect">
            <a:avLst>
              <a:gd name="adj" fmla="val 4545"/>
            </a:avLst>
          </a:prstGeom>
          <a:solidFill>
            <a:srgbClr val="1B2350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46520" y="2432304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EE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Objeto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446520" y="2816352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casa concreta, construida con ese plano — con su propia dirección, su propio color, y capaz de hacer lo que el plano dice.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64008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a la Ciencia de Datos · Sesión 2 · Introducción a Pandas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65815" y="457200"/>
            <a:ext cx="777240" cy="777240"/>
          </a:xfrm>
          <a:prstGeom prst="ellipse">
            <a:avLst/>
          </a:prstGeom>
          <a:solidFill>
            <a:srgbClr val="242C57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865815" y="4572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✅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029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 LO HAN HECHO, SIN SABERLO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8686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 usaron objetos en sesión 1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286000"/>
            <a:ext cx="96926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spcAft>
                <a:spcPts val="2000"/>
              </a:spcAft>
              <a:buNone/>
            </a:pPr>
            <a:r>
              <a:rPr lang="en-US" sz="1900" b="1" dirty="0">
                <a:solidFill>
                  <a:srgbClr val="5EE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5000"/>
              </a:lnSpc>
              <a:spcAft>
                <a:spcPts val="2000"/>
              </a:spcAft>
              <a:buNone/>
            </a:pPr>
            <a:r>
              <a:rPr lang="en-US" sz="19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</a:t>
            </a:r>
            <a:pPr indent="0" marL="0">
              <a:lnSpc>
                <a:spcPct val="125000"/>
              </a:lnSpc>
              <a:spcAft>
                <a:spcPts val="2000"/>
              </a:spcAft>
              <a:buNone/>
            </a:pPr>
            <a:r>
              <a:rPr lang="en-US" sz="19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</a:t>
            </a:r>
            <a:pPr indent="0" marL="0">
              <a:lnSpc>
                <a:spcPct val="125000"/>
              </a:lnSpc>
              <a:spcAft>
                <a:spcPts val="2000"/>
              </a:spcAft>
              <a:buNone/>
            </a:pPr>
            <a:r>
              <a:rPr lang="en-US" sz="19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 un objeto — por eso puede hacer .strip(), .upper(), .split().</a:t>
            </a:r>
            <a:endParaRPr lang="en-US" sz="1900" dirty="0"/>
          </a:p>
          <a:p>
            <a:pPr indent="0" marL="0">
              <a:lnSpc>
                <a:spcPct val="125000"/>
              </a:lnSpc>
              <a:spcAft>
                <a:spcPts val="2000"/>
              </a:spcAft>
              <a:buNone/>
            </a:pPr>
            <a:r>
              <a:rPr lang="en-US" sz="1900" b="1" dirty="0">
                <a:solidFill>
                  <a:srgbClr val="5EE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5000"/>
              </a:lnSpc>
              <a:spcAft>
                <a:spcPts val="2000"/>
              </a:spcAft>
              <a:buNone/>
            </a:pPr>
            <a:r>
              <a:rPr lang="en-US" sz="19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</a:t>
            </a:r>
            <a:pPr indent="0" marL="0">
              <a:lnSpc>
                <a:spcPct val="125000"/>
              </a:lnSpc>
              <a:spcAft>
                <a:spcPts val="2000"/>
              </a:spcAft>
              <a:buNone/>
            </a:pPr>
            <a:r>
              <a:rPr lang="en-US" sz="19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</a:t>
            </a:r>
            <a:pPr indent="0" marL="0">
              <a:lnSpc>
                <a:spcPct val="125000"/>
              </a:lnSpc>
              <a:spcAft>
                <a:spcPts val="2000"/>
              </a:spcAft>
              <a:buNone/>
            </a:pPr>
            <a:r>
              <a:rPr lang="en-US" sz="19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 un objeto — por eso puede hacer .append(), .sort().</a:t>
            </a:r>
            <a:endParaRPr lang="en-US" sz="1900" dirty="0"/>
          </a:p>
          <a:p>
            <a:pPr indent="0" marL="0">
              <a:lnSpc>
                <a:spcPct val="125000"/>
              </a:lnSpc>
              <a:spcAft>
                <a:spcPts val="2000"/>
              </a:spcAft>
              <a:buNone/>
            </a:pPr>
            <a:r>
              <a:rPr lang="en-US" sz="1900" b="1" dirty="0">
                <a:solidFill>
                  <a:srgbClr val="5EE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5000"/>
              </a:lnSpc>
              <a:spcAft>
                <a:spcPts val="2000"/>
              </a:spcAft>
              <a:buNone/>
            </a:pPr>
            <a:r>
              <a:rPr lang="en-US" sz="19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conocen dos objetos nuevos, hechos específicamente para trabajar con datos: </a:t>
            </a:r>
            <a:pPr indent="0" marL="0">
              <a:lnSpc>
                <a:spcPct val="125000"/>
              </a:lnSpc>
              <a:spcAft>
                <a:spcPts val="2000"/>
              </a:spcAft>
              <a:buNone/>
            </a:pPr>
            <a:r>
              <a:rPr lang="en-US" sz="19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y DataFrame</a:t>
            </a:r>
            <a:pPr indent="0" marL="0">
              <a:lnSpc>
                <a:spcPct val="125000"/>
              </a:lnSpc>
              <a:spcAft>
                <a:spcPts val="2000"/>
              </a:spcAft>
              <a:buNone/>
            </a:pPr>
            <a:r>
              <a:rPr lang="en-US" sz="19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64008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a la Ciencia de Datos · Sesión 2 · Introducción a Pandas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65815" y="457200"/>
            <a:ext cx="777240" cy="777240"/>
          </a:xfrm>
          <a:prstGeom prst="ellipse">
            <a:avLst/>
          </a:prstGeom>
          <a:solidFill>
            <a:srgbClr val="242C57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865815" y="4572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📏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029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PRIMER OBJETO DE PANDAS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8686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Series: una columna con superpoderes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2286000"/>
            <a:ext cx="9692640" cy="1097280"/>
          </a:xfrm>
          <a:prstGeom prst="roundRect">
            <a:avLst>
              <a:gd name="adj" fmla="val 8333"/>
            </a:avLst>
          </a:prstGeom>
          <a:solidFill>
            <a:srgbClr val="1B2350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0120" y="2450592"/>
            <a:ext cx="90525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00" i="1" dirty="0">
                <a:solidFill>
                  <a:srgbClr val="5EE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dentro es un array de NumPy — pero con algo extra: cada valor tiene una etiqueta (su índice), no solo una posición.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657600"/>
            <a:ext cx="96926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array te dice “el valor en la posición 3”. Una Series te dice “el valor de Juan” — aunque por dentro sea el mismo array veloz de NumPy.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64008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a la Ciencia de Datos · Sesión 2 · Introducción a Pandas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14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65815" y="457200"/>
            <a:ext cx="777240" cy="777240"/>
          </a:xfrm>
          <a:prstGeom prst="ellipse">
            <a:avLst/>
          </a:prstGeom>
          <a:solidFill>
            <a:srgbClr val="242C57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865815" y="4572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🗂️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029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OBJETO POR EXCELENCIA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8686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DataFrame: una tabla hecha de Series</a:t>
            </a:r>
            <a:endParaRPr lang="en-US" sz="3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286000"/>
          <a:ext cx="9692640" cy="914400"/>
        </p:xfrm>
        <a:graphic>
          <a:graphicData uri="http://schemas.openxmlformats.org/drawingml/2006/table">
            <a:tbl>
              <a:tblPr/>
              <a:tblGrid>
                <a:gridCol w="2423160"/>
                <a:gridCol w="2423160"/>
                <a:gridCol w="2423160"/>
                <a:gridCol w="24231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E3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5EEAC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E3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5EEAC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E3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5EEAC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room_type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E3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i="1" dirty="0">
                          <a:solidFill>
                            <a:srgbClr val="B7BE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E3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4F1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Cozy Loft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E3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4F1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E3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4F1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Entire home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E3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5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i="1" dirty="0">
                          <a:solidFill>
                            <a:srgbClr val="B7BE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E3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4F1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Sunny Room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E3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4F1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E3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4F1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Private room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E3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5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i="1" dirty="0">
                          <a:solidFill>
                            <a:srgbClr val="B7BE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E3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4F1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Downtown Flat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E3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4F1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E3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4F1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Entire home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E3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50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640080" y="4206240"/>
            <a:ext cx="96926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DataFrame es literalmente varias Series, una junto a otra, compartiendo el mismo índice de filas. Cada columna = una Series; todas comparten el mismo índice.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64008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a la Ciencia de Datos · Sesión 2 · Introducción a Pandas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14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65815" y="457200"/>
            <a:ext cx="777240" cy="777240"/>
          </a:xfrm>
          <a:prstGeom prst="ellipse">
            <a:avLst/>
          </a:prstGeom>
          <a:solidFill>
            <a:srgbClr val="242C57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865815" y="4572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🧭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029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SEGUIR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8686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Algunas particularidades que vale la pena conocer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40080" y="2286000"/>
            <a:ext cx="9692640" cy="1005840"/>
          </a:xfrm>
          <a:prstGeom prst="roundRect">
            <a:avLst>
              <a:gd name="adj" fmla="val 9091"/>
            </a:avLst>
          </a:prstGeom>
          <a:solidFill>
            <a:srgbClr val="1B2350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0120" y="2450592"/>
            <a:ext cx="9052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00" i="1" dirty="0">
                <a:solidFill>
                  <a:srgbClr val="5EE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 a aparecer 3 hoy; hay muchas más en la documentación oficial (pandas.pydata.org/docs).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566160"/>
            <a:ext cx="96926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tiene decisiones de diseño que sorprenden a quien viene de Excel — mejor verlas ahora que descubrirlas por accidente en medio de un análisis.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64008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a la Ciencia de Datos · Sesión 2 · Introducción a Pandas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14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65815" y="457200"/>
            <a:ext cx="777240" cy="777240"/>
          </a:xfrm>
          <a:prstGeom prst="ellipse">
            <a:avLst/>
          </a:prstGeom>
          <a:solidFill>
            <a:srgbClr val="242C57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865815" y="4572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🔢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029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PARTICULARIDAD 1 DE 3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8686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índice: parece único, pero Pandas no lo exige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40080" y="2286000"/>
            <a:ext cx="9692640" cy="914400"/>
          </a:xfrm>
          <a:prstGeom prst="roundRect">
            <a:avLst>
              <a:gd name="adj" fmla="val 10000"/>
            </a:avLst>
          </a:prstGeom>
          <a:solidFill>
            <a:srgbClr val="0B0E1A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2487168"/>
            <a:ext cx="9144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5EEA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df.index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i="1" dirty="0">
                <a:solidFill>
                  <a:srgbClr val="B7BE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RangeIndex(start=0, stop=48895, step=1)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474720"/>
            <a:ext cx="96926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no exige que el índice sea único. Buena práctica: usar .reset_index(drop=True) después de filtrar.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64008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a la Ciencia de Datos · Sesión 2 · Introducción a Pandas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14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65815" y="457200"/>
            <a:ext cx="777240" cy="777240"/>
          </a:xfrm>
          <a:prstGeom prst="ellipse">
            <a:avLst/>
          </a:prstGeom>
          <a:solidFill>
            <a:srgbClr val="242C57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865815" y="4572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↕️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029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PARTICULARIDAD 2 DE 3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8686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axis=0</a:t>
            </a:r>
            <a:pPr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pPr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5EE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axis=1</a:t>
            </a:r>
            <a:pPr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la confusión más común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40080" y="2286000"/>
            <a:ext cx="9692640" cy="1188720"/>
          </a:xfrm>
          <a:prstGeom prst="roundRect">
            <a:avLst>
              <a:gd name="adj" fmla="val 7692"/>
            </a:avLst>
          </a:prstGeom>
          <a:solidFill>
            <a:srgbClr val="0B0E1A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2487168"/>
            <a:ext cx="91440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5EEA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df.mean(axis=0)  # default: colapsa FILAS -&gt; 1 valor por columna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5EEA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df.mean(axis=1)  # colapsa COLUMNAS -&gt; 1 valor por fila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749040"/>
            <a:ext cx="9692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Truco: axis es la dirección que desaparece.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64008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a la Ciencia de Datos · Sesión 2 · Introducción a Pandas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65815" y="457200"/>
            <a:ext cx="777240" cy="777240"/>
          </a:xfrm>
          <a:prstGeom prst="ellipse">
            <a:avLst/>
          </a:prstGeom>
          <a:solidFill>
            <a:srgbClr val="242C57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865815" y="4572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⚠️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029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PARTICULARIDAD 3 DE 3 · EL ERROR QUE TODOS COMETEN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8686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Filtrar y modificar a la vez: usen </a:t>
            </a:r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5EE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.loc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40080" y="2286000"/>
            <a:ext cx="9692640" cy="2286000"/>
          </a:xfrm>
          <a:prstGeom prst="roundRect">
            <a:avLst>
              <a:gd name="adj" fmla="val 4000"/>
            </a:avLst>
          </a:prstGeom>
          <a:solidFill>
            <a:srgbClr val="0B0E1A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2487168"/>
            <a:ext cx="9144000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i="1" dirty="0">
                <a:solidFill>
                  <a:srgbClr val="B7BE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⚠️ SettingWithCopyWarning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5EEA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df[df['minimum_nights'] &gt; 365]['minimum_nights'] = 365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i="1" dirty="0">
                <a:solidFill>
                  <a:srgbClr val="B7BE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✅ correcto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5EEA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df.loc[df['minimum_nights'] &gt; 365, 'minimum_nights'] = 365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4846320"/>
            <a:ext cx="9692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simple: si van a modificar después de filtrar, usen siempre .loc[filtro, columna] en una sola operación.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64008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a la Ciencia de Datos · Sesión 2 · Introducción a Pandas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65815" y="457200"/>
            <a:ext cx="777240" cy="777240"/>
          </a:xfrm>
          <a:prstGeom prst="ellipse">
            <a:avLst/>
          </a:prstGeom>
          <a:solidFill>
            <a:srgbClr val="242C57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865815" y="4572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⚡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029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IMPORTA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8686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debajo, son arrays de NumPy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286000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Eso tiene una consecuencia práctica todos los días — ¿qué creen que es más rápido?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926080"/>
            <a:ext cx="5257800" cy="2011680"/>
          </a:xfrm>
          <a:prstGeom prst="roundRect">
            <a:avLst>
              <a:gd name="adj" fmla="val 4545"/>
            </a:avLst>
          </a:prstGeom>
          <a:solidFill>
            <a:srgbClr val="1B2350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3127248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A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Recorrer con un for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3611880"/>
            <a:ext cx="4709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por valor — el patrón que ya escribieron a mano en sesión 1.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63640" y="2926080"/>
            <a:ext cx="5257800" cy="2011680"/>
          </a:xfrm>
          <a:prstGeom prst="roundRect">
            <a:avLst>
              <a:gd name="adj" fmla="val 4545"/>
            </a:avLst>
          </a:prstGeom>
          <a:solidFill>
            <a:srgbClr val="1B2350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37960" y="3127248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EE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Operación sobre toda la columna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6537960" y="3611880"/>
            <a:ext cx="4709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Mucho más rápida — hablamos de esto en detalle en el bloque teórico después del descanso.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a la Ciencia de Datos · Sesión 2 · Introducción a Pandas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65815" y="457200"/>
            <a:ext cx="777240" cy="777240"/>
          </a:xfrm>
          <a:prstGeom prst="ellipse">
            <a:avLst/>
          </a:prstGeom>
          <a:solidFill>
            <a:srgbClr val="242C57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865815" y="4572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🗺️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029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EN LA SESIÓN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8686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vamos a hacer con todo esto?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286000"/>
            <a:ext cx="96926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spcAft>
                <a:spcPts val="1600"/>
              </a:spcAft>
              <a:buNone/>
            </a:pPr>
            <a:r>
              <a:rPr lang="en-US" sz="1800" b="1" dirty="0">
                <a:solidFill>
                  <a:srgbClr val="5EE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5000"/>
              </a:lnSpc>
              <a:spcAft>
                <a:spcPts val="1600"/>
              </a:spcAft>
              <a:buNone/>
            </a:pPr>
            <a:r>
              <a:rPr lang="en-US" sz="18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Cargar datos reales de Airbnb en Nueva York con read_csv.</a:t>
            </a:r>
            <a:endParaRPr lang="en-US" sz="1800" dirty="0"/>
          </a:p>
          <a:p>
            <a:pPr indent="0" marL="0">
              <a:lnSpc>
                <a:spcPct val="125000"/>
              </a:lnSpc>
              <a:spcAft>
                <a:spcPts val="1600"/>
              </a:spcAft>
              <a:buNone/>
            </a:pPr>
            <a:r>
              <a:rPr lang="en-US" sz="1800" b="1" dirty="0">
                <a:solidFill>
                  <a:srgbClr val="5EE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5000"/>
              </a:lnSpc>
              <a:spcAft>
                <a:spcPts val="1600"/>
              </a:spcAft>
              <a:buNone/>
            </a:pPr>
            <a:r>
              <a:rPr lang="en-US" sz="18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lo que ya saben (media, mediana) y notar que algo sale raro.</a:t>
            </a:r>
            <a:endParaRPr lang="en-US" sz="1800" dirty="0"/>
          </a:p>
          <a:p>
            <a:pPr indent="0" marL="0">
              <a:lnSpc>
                <a:spcPct val="125000"/>
              </a:lnSpc>
              <a:spcAft>
                <a:spcPts val="1600"/>
              </a:spcAft>
              <a:buNone/>
            </a:pPr>
            <a:r>
              <a:rPr lang="en-US" sz="1800" b="1" dirty="0">
                <a:solidFill>
                  <a:srgbClr val="5EE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5000"/>
              </a:lnSpc>
              <a:spcAft>
                <a:spcPts val="1600"/>
              </a:spcAft>
              <a:buNone/>
            </a:pPr>
            <a:r>
              <a:rPr lang="en-US" sz="18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Después del descanso: entender por qué (datos sucios, outliers) y limpiarlos.</a:t>
            </a:r>
            <a:endParaRPr lang="en-US" sz="1800" dirty="0"/>
          </a:p>
          <a:p>
            <a:pPr indent="0" marL="0">
              <a:lnSpc>
                <a:spcPct val="125000"/>
              </a:lnSpc>
              <a:spcAft>
                <a:spcPts val="1600"/>
              </a:spcAft>
              <a:buNone/>
            </a:pPr>
            <a:r>
              <a:rPr lang="en-US" sz="1800" b="1" dirty="0">
                <a:solidFill>
                  <a:srgbClr val="5EE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5000"/>
              </a:lnSpc>
              <a:spcAft>
                <a:spcPts val="1600"/>
              </a:spcAft>
              <a:buNone/>
            </a:pPr>
            <a:r>
              <a:rPr lang="en-US" sz="18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Repetir el análisis, ya limpio, y comparar.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64008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a la Ciencia de Datos · Sesión 2 · Introducción a Pandas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65815" y="457200"/>
            <a:ext cx="777240" cy="777240"/>
          </a:xfrm>
          <a:prstGeom prst="ellipse">
            <a:avLst/>
          </a:prstGeom>
          <a:solidFill>
            <a:srgbClr val="242C57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865815" y="4572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🚀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029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MANOS A LA OBRA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8686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Abran su notebook — vamos a cargar los datos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2286000"/>
            <a:ext cx="8961120" cy="914400"/>
          </a:xfrm>
          <a:prstGeom prst="roundRect">
            <a:avLst>
              <a:gd name="adj" fmla="val 10000"/>
            </a:avLst>
          </a:prstGeom>
          <a:solidFill>
            <a:srgbClr val="1B2350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0120" y="2450592"/>
            <a:ext cx="8321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00" i="1" dirty="0">
                <a:solidFill>
                  <a:srgbClr val="5EE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DataFrame no es más que una tabla que ya conocen de Excel — solo que ahora pueden programarle instrucciones.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474720"/>
            <a:ext cx="8961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Transición directa al notebook de carga y primeros pasos.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64008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a la Ciencia de Datos · Sesión 2 · Introducción a Pandas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2026-09-11T11:43:50Z</dcterms:created>
  <dcterms:modified xsi:type="dcterms:W3CDTF">2026-09-11T11:43:50Z</dcterms:modified>
</cp:coreProperties>
</file>